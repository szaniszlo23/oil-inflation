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3" r:id="rId5"/>
    <p:sldId id="266" r:id="rId6"/>
    <p:sldId id="268" r:id="rId7"/>
    <p:sldId id="269" r:id="rId8"/>
    <p:sldId id="271" r:id="rId9"/>
    <p:sldId id="270" r:id="rId10"/>
    <p:sldId id="272" r:id="rId11"/>
    <p:sldId id="273" r:id="rId12"/>
    <p:sldId id="27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75"/>
    <p:restoredTop sz="94610"/>
  </p:normalViewPr>
  <p:slideViewPr>
    <p:cSldViewPr snapToGrid="0" snapToObjects="1">
      <p:cViewPr>
        <p:scale>
          <a:sx n="136" d="100"/>
          <a:sy n="136" d="100"/>
        </p:scale>
        <p:origin x="14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CF5B1B-4534-2244-8F99-B02B9C030438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D2D5E19D-7CCD-6248-B483-14A370159EE7}">
      <dgm:prSet custT="1"/>
      <dgm:spPr/>
      <dgm:t>
        <a:bodyPr/>
        <a:lstStyle/>
        <a:p>
          <a:r>
            <a:rPr lang="en-AU" sz="1800" noProof="1"/>
            <a:t>Brent crude oil prices </a:t>
          </a:r>
        </a:p>
      </dgm:t>
    </dgm:pt>
    <dgm:pt modelId="{9E901F3E-9FEC-E04B-9CBA-452DE66A8C01}" type="parTrans" cxnId="{7C2D62A6-EEC9-EA40-9FE6-E076111DA013}">
      <dgm:prSet/>
      <dgm:spPr/>
      <dgm:t>
        <a:bodyPr/>
        <a:lstStyle/>
        <a:p>
          <a:endParaRPr lang="hu-HU"/>
        </a:p>
      </dgm:t>
    </dgm:pt>
    <dgm:pt modelId="{24BAF0F3-9B93-6546-AECC-105D2322AE32}" type="sibTrans" cxnId="{7C2D62A6-EEC9-EA40-9FE6-E076111DA013}">
      <dgm:prSet/>
      <dgm:spPr/>
      <dgm:t>
        <a:bodyPr/>
        <a:lstStyle/>
        <a:p>
          <a:endParaRPr lang="hu-HU"/>
        </a:p>
      </dgm:t>
    </dgm:pt>
    <dgm:pt modelId="{8079D618-DD9C-5B4B-911E-50A96DBFC8D4}">
      <dgm:prSet custT="1"/>
      <dgm:spPr/>
      <dgm:t>
        <a:bodyPr/>
        <a:lstStyle/>
        <a:p>
          <a:r>
            <a:rPr lang="en-US" sz="1800" noProof="1"/>
            <a:t>Petrol and diesel pump prices</a:t>
          </a:r>
        </a:p>
      </dgm:t>
    </dgm:pt>
    <dgm:pt modelId="{D1F8F2B7-87AE-2C42-A77F-0E9345248923}" type="parTrans" cxnId="{27E56D55-CEBE-824B-A215-97B07B08B36A}">
      <dgm:prSet/>
      <dgm:spPr/>
      <dgm:t>
        <a:bodyPr/>
        <a:lstStyle/>
        <a:p>
          <a:endParaRPr lang="hu-HU"/>
        </a:p>
      </dgm:t>
    </dgm:pt>
    <dgm:pt modelId="{B11348AE-512B-1A44-BEC4-B0D6163DDE5F}" type="sibTrans" cxnId="{27E56D55-CEBE-824B-A215-97B07B08B36A}">
      <dgm:prSet/>
      <dgm:spPr/>
      <dgm:t>
        <a:bodyPr/>
        <a:lstStyle/>
        <a:p>
          <a:endParaRPr lang="hu-HU"/>
        </a:p>
      </dgm:t>
    </dgm:pt>
    <dgm:pt modelId="{28E69682-EE60-7040-B62D-A1B456EB0EEA}">
      <dgm:prSet custT="1"/>
      <dgm:spPr/>
      <dgm:t>
        <a:bodyPr/>
        <a:lstStyle/>
        <a:p>
          <a:r>
            <a:rPr lang="en-US" sz="1800" noProof="1"/>
            <a:t>HICP</a:t>
          </a:r>
        </a:p>
        <a:p>
          <a:r>
            <a:rPr lang="en-US" sz="1800" noProof="1"/>
            <a:t>headline and components</a:t>
          </a:r>
        </a:p>
      </dgm:t>
    </dgm:pt>
    <dgm:pt modelId="{F5462996-70A7-1741-A2C5-8C42AC4FEF4C}" type="parTrans" cxnId="{6E06FA19-8AF3-2A40-B047-5A7C03296B8D}">
      <dgm:prSet/>
      <dgm:spPr/>
      <dgm:t>
        <a:bodyPr/>
        <a:lstStyle/>
        <a:p>
          <a:endParaRPr lang="hu-HU"/>
        </a:p>
      </dgm:t>
    </dgm:pt>
    <dgm:pt modelId="{B2103939-D200-9E43-A790-A8B3A9385FC7}" type="sibTrans" cxnId="{6E06FA19-8AF3-2A40-B047-5A7C03296B8D}">
      <dgm:prSet/>
      <dgm:spPr/>
      <dgm:t>
        <a:bodyPr/>
        <a:lstStyle/>
        <a:p>
          <a:endParaRPr lang="hu-HU"/>
        </a:p>
      </dgm:t>
    </dgm:pt>
    <dgm:pt modelId="{FB537012-726C-BE4B-8A70-8D984A8C31FB}" type="pres">
      <dgm:prSet presAssocID="{C6CF5B1B-4534-2244-8F99-B02B9C030438}" presName="Name0" presStyleCnt="0">
        <dgm:presLayoutVars>
          <dgm:dir/>
          <dgm:resizeHandles val="exact"/>
        </dgm:presLayoutVars>
      </dgm:prSet>
      <dgm:spPr/>
    </dgm:pt>
    <dgm:pt modelId="{BA466B61-7A4B-4241-AF2D-3015C6FBC21D}" type="pres">
      <dgm:prSet presAssocID="{D2D5E19D-7CCD-6248-B483-14A370159EE7}" presName="node" presStyleLbl="node1" presStyleIdx="0" presStyleCnt="3" custScaleX="75132" custScaleY="75132">
        <dgm:presLayoutVars>
          <dgm:bulletEnabled val="1"/>
        </dgm:presLayoutVars>
      </dgm:prSet>
      <dgm:spPr/>
    </dgm:pt>
    <dgm:pt modelId="{C34EA014-CC90-8C44-9D7D-4FB41158D634}" type="pres">
      <dgm:prSet presAssocID="{24BAF0F3-9B93-6546-AECC-105D2322AE32}" presName="sibTrans" presStyleLbl="sibTrans2D1" presStyleIdx="0" presStyleCnt="2" custScaleY="70969"/>
      <dgm:spPr/>
    </dgm:pt>
    <dgm:pt modelId="{BF2EE9AE-30DE-5249-B854-31E48A41F499}" type="pres">
      <dgm:prSet presAssocID="{24BAF0F3-9B93-6546-AECC-105D2322AE32}" presName="connectorText" presStyleLbl="sibTrans2D1" presStyleIdx="0" presStyleCnt="2"/>
      <dgm:spPr/>
    </dgm:pt>
    <dgm:pt modelId="{F24B6B33-B95F-1344-BEEF-E61859669FAC}" type="pres">
      <dgm:prSet presAssocID="{8079D618-DD9C-5B4B-911E-50A96DBFC8D4}" presName="node" presStyleLbl="node1" presStyleIdx="1" presStyleCnt="3" custScaleX="75132" custScaleY="75132">
        <dgm:presLayoutVars>
          <dgm:bulletEnabled val="1"/>
        </dgm:presLayoutVars>
      </dgm:prSet>
      <dgm:spPr/>
    </dgm:pt>
    <dgm:pt modelId="{DEE6E9DA-2D38-0A40-96AB-ED69315C9566}" type="pres">
      <dgm:prSet presAssocID="{B11348AE-512B-1A44-BEC4-B0D6163DDE5F}" presName="sibTrans" presStyleLbl="sibTrans2D1" presStyleIdx="1" presStyleCnt="2" custScaleY="70969"/>
      <dgm:spPr/>
    </dgm:pt>
    <dgm:pt modelId="{A20E81D7-8D63-F844-B4AF-60B62CF96660}" type="pres">
      <dgm:prSet presAssocID="{B11348AE-512B-1A44-BEC4-B0D6163DDE5F}" presName="connectorText" presStyleLbl="sibTrans2D1" presStyleIdx="1" presStyleCnt="2"/>
      <dgm:spPr/>
    </dgm:pt>
    <dgm:pt modelId="{664CB6FE-82C1-CB42-ABE4-BF953C9F6F69}" type="pres">
      <dgm:prSet presAssocID="{28E69682-EE60-7040-B62D-A1B456EB0EEA}" presName="node" presStyleLbl="node1" presStyleIdx="2" presStyleCnt="3" custScaleX="75132" custScaleY="75132">
        <dgm:presLayoutVars>
          <dgm:bulletEnabled val="1"/>
        </dgm:presLayoutVars>
      </dgm:prSet>
      <dgm:spPr/>
    </dgm:pt>
  </dgm:ptLst>
  <dgm:cxnLst>
    <dgm:cxn modelId="{E57F7D17-4749-E44F-82F7-B29D3A5508D8}" type="presOf" srcId="{24BAF0F3-9B93-6546-AECC-105D2322AE32}" destId="{C34EA014-CC90-8C44-9D7D-4FB41158D634}" srcOrd="0" destOrd="0" presId="urn:microsoft.com/office/officeart/2005/8/layout/process1"/>
    <dgm:cxn modelId="{6E06FA19-8AF3-2A40-B047-5A7C03296B8D}" srcId="{C6CF5B1B-4534-2244-8F99-B02B9C030438}" destId="{28E69682-EE60-7040-B62D-A1B456EB0EEA}" srcOrd="2" destOrd="0" parTransId="{F5462996-70A7-1741-A2C5-8C42AC4FEF4C}" sibTransId="{B2103939-D200-9E43-A790-A8B3A9385FC7}"/>
    <dgm:cxn modelId="{CBAAD132-7DD7-334F-9A47-AAAD0750BB54}" type="presOf" srcId="{24BAF0F3-9B93-6546-AECC-105D2322AE32}" destId="{BF2EE9AE-30DE-5249-B854-31E48A41F499}" srcOrd="1" destOrd="0" presId="urn:microsoft.com/office/officeart/2005/8/layout/process1"/>
    <dgm:cxn modelId="{4755D339-9DAE-9542-98E1-85775C01EE46}" type="presOf" srcId="{28E69682-EE60-7040-B62D-A1B456EB0EEA}" destId="{664CB6FE-82C1-CB42-ABE4-BF953C9F6F69}" srcOrd="0" destOrd="0" presId="urn:microsoft.com/office/officeart/2005/8/layout/process1"/>
    <dgm:cxn modelId="{27E56D55-CEBE-824B-A215-97B07B08B36A}" srcId="{C6CF5B1B-4534-2244-8F99-B02B9C030438}" destId="{8079D618-DD9C-5B4B-911E-50A96DBFC8D4}" srcOrd="1" destOrd="0" parTransId="{D1F8F2B7-87AE-2C42-A77F-0E9345248923}" sibTransId="{B11348AE-512B-1A44-BEC4-B0D6163DDE5F}"/>
    <dgm:cxn modelId="{3627F060-E13A-9945-9D31-47797075F49C}" type="presOf" srcId="{D2D5E19D-7CCD-6248-B483-14A370159EE7}" destId="{BA466B61-7A4B-4241-AF2D-3015C6FBC21D}" srcOrd="0" destOrd="0" presId="urn:microsoft.com/office/officeart/2005/8/layout/process1"/>
    <dgm:cxn modelId="{B63B759C-2017-C942-ABB0-C315CCA5F954}" type="presOf" srcId="{C6CF5B1B-4534-2244-8F99-B02B9C030438}" destId="{FB537012-726C-BE4B-8A70-8D984A8C31FB}" srcOrd="0" destOrd="0" presId="urn:microsoft.com/office/officeart/2005/8/layout/process1"/>
    <dgm:cxn modelId="{7C2D62A6-EEC9-EA40-9FE6-E076111DA013}" srcId="{C6CF5B1B-4534-2244-8F99-B02B9C030438}" destId="{D2D5E19D-7CCD-6248-B483-14A370159EE7}" srcOrd="0" destOrd="0" parTransId="{9E901F3E-9FEC-E04B-9CBA-452DE66A8C01}" sibTransId="{24BAF0F3-9B93-6546-AECC-105D2322AE32}"/>
    <dgm:cxn modelId="{B0354FAF-4A63-6A4D-864E-01EFBB4E715B}" type="presOf" srcId="{B11348AE-512B-1A44-BEC4-B0D6163DDE5F}" destId="{A20E81D7-8D63-F844-B4AF-60B62CF96660}" srcOrd="1" destOrd="0" presId="urn:microsoft.com/office/officeart/2005/8/layout/process1"/>
    <dgm:cxn modelId="{AE9CA9CC-65D9-4F47-AD26-61E38BE61B0B}" type="presOf" srcId="{B11348AE-512B-1A44-BEC4-B0D6163DDE5F}" destId="{DEE6E9DA-2D38-0A40-96AB-ED69315C9566}" srcOrd="0" destOrd="0" presId="urn:microsoft.com/office/officeart/2005/8/layout/process1"/>
    <dgm:cxn modelId="{8EA003F0-74D0-6A48-9DEF-FC2B921D341E}" type="presOf" srcId="{8079D618-DD9C-5B4B-911E-50A96DBFC8D4}" destId="{F24B6B33-B95F-1344-BEEF-E61859669FAC}" srcOrd="0" destOrd="0" presId="urn:microsoft.com/office/officeart/2005/8/layout/process1"/>
    <dgm:cxn modelId="{E408EBE1-0AF3-5349-857B-04152EAD1F89}" type="presParOf" srcId="{FB537012-726C-BE4B-8A70-8D984A8C31FB}" destId="{BA466B61-7A4B-4241-AF2D-3015C6FBC21D}" srcOrd="0" destOrd="0" presId="urn:microsoft.com/office/officeart/2005/8/layout/process1"/>
    <dgm:cxn modelId="{8DF9D737-101F-2C47-BA76-1579F3E24C3E}" type="presParOf" srcId="{FB537012-726C-BE4B-8A70-8D984A8C31FB}" destId="{C34EA014-CC90-8C44-9D7D-4FB41158D634}" srcOrd="1" destOrd="0" presId="urn:microsoft.com/office/officeart/2005/8/layout/process1"/>
    <dgm:cxn modelId="{6A967730-7F20-B94F-B46E-2D611249C826}" type="presParOf" srcId="{C34EA014-CC90-8C44-9D7D-4FB41158D634}" destId="{BF2EE9AE-30DE-5249-B854-31E48A41F499}" srcOrd="0" destOrd="0" presId="urn:microsoft.com/office/officeart/2005/8/layout/process1"/>
    <dgm:cxn modelId="{059CA286-A046-8243-B38B-85FB9293C386}" type="presParOf" srcId="{FB537012-726C-BE4B-8A70-8D984A8C31FB}" destId="{F24B6B33-B95F-1344-BEEF-E61859669FAC}" srcOrd="2" destOrd="0" presId="urn:microsoft.com/office/officeart/2005/8/layout/process1"/>
    <dgm:cxn modelId="{FA90C78A-0484-B647-A8AA-FECEE70DAD11}" type="presParOf" srcId="{FB537012-726C-BE4B-8A70-8D984A8C31FB}" destId="{DEE6E9DA-2D38-0A40-96AB-ED69315C9566}" srcOrd="3" destOrd="0" presId="urn:microsoft.com/office/officeart/2005/8/layout/process1"/>
    <dgm:cxn modelId="{FD9A48C3-8938-9941-BD9B-BB8DD9B3F5B3}" type="presParOf" srcId="{DEE6E9DA-2D38-0A40-96AB-ED69315C9566}" destId="{A20E81D7-8D63-F844-B4AF-60B62CF96660}" srcOrd="0" destOrd="0" presId="urn:microsoft.com/office/officeart/2005/8/layout/process1"/>
    <dgm:cxn modelId="{1DF17C6C-BCEC-7043-B957-FA2CF35EA325}" type="presParOf" srcId="{FB537012-726C-BE4B-8A70-8D984A8C31FB}" destId="{664CB6FE-82C1-CB42-ABE4-BF953C9F6F6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466B61-7A4B-4241-AF2D-3015C6FBC21D}">
      <dsp:nvSpPr>
        <dsp:cNvPr id="0" name=""/>
        <dsp:cNvSpPr/>
      </dsp:nvSpPr>
      <dsp:spPr>
        <a:xfrm>
          <a:off x="3664" y="347231"/>
          <a:ext cx="1997806" cy="1198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noProof="1"/>
            <a:t>Brent crude oil prices </a:t>
          </a:r>
        </a:p>
      </dsp:txBody>
      <dsp:txXfrm>
        <a:off x="38772" y="382339"/>
        <a:ext cx="1927590" cy="1128468"/>
      </dsp:txXfrm>
    </dsp:sp>
    <dsp:sp modelId="{C34EA014-CC90-8C44-9D7D-4FB41158D634}">
      <dsp:nvSpPr>
        <dsp:cNvPr id="0" name=""/>
        <dsp:cNvSpPr/>
      </dsp:nvSpPr>
      <dsp:spPr>
        <a:xfrm>
          <a:off x="2267377" y="712571"/>
          <a:ext cx="563721" cy="4680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2100" kern="1200"/>
        </a:p>
      </dsp:txBody>
      <dsp:txXfrm>
        <a:off x="2267377" y="806172"/>
        <a:ext cx="423320" cy="280801"/>
      </dsp:txXfrm>
    </dsp:sp>
    <dsp:sp modelId="{F24B6B33-B95F-1344-BEEF-E61859669FAC}">
      <dsp:nvSpPr>
        <dsp:cNvPr id="0" name=""/>
        <dsp:cNvSpPr/>
      </dsp:nvSpPr>
      <dsp:spPr>
        <a:xfrm>
          <a:off x="3065096" y="347231"/>
          <a:ext cx="1997806" cy="1198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1"/>
            <a:t>Petrol and diesel pump prices</a:t>
          </a:r>
        </a:p>
      </dsp:txBody>
      <dsp:txXfrm>
        <a:off x="3100204" y="382339"/>
        <a:ext cx="1927590" cy="1128468"/>
      </dsp:txXfrm>
    </dsp:sp>
    <dsp:sp modelId="{DEE6E9DA-2D38-0A40-96AB-ED69315C9566}">
      <dsp:nvSpPr>
        <dsp:cNvPr id="0" name=""/>
        <dsp:cNvSpPr/>
      </dsp:nvSpPr>
      <dsp:spPr>
        <a:xfrm>
          <a:off x="5328809" y="712571"/>
          <a:ext cx="563721" cy="4680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2100" kern="1200"/>
        </a:p>
      </dsp:txBody>
      <dsp:txXfrm>
        <a:off x="5328809" y="806172"/>
        <a:ext cx="423320" cy="280801"/>
      </dsp:txXfrm>
    </dsp:sp>
    <dsp:sp modelId="{664CB6FE-82C1-CB42-ABE4-BF953C9F6F69}">
      <dsp:nvSpPr>
        <dsp:cNvPr id="0" name=""/>
        <dsp:cNvSpPr/>
      </dsp:nvSpPr>
      <dsp:spPr>
        <a:xfrm>
          <a:off x="6126528" y="347231"/>
          <a:ext cx="1997806" cy="1198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1"/>
            <a:t>HICP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1"/>
            <a:t>headline and components</a:t>
          </a:r>
        </a:p>
      </dsp:txBody>
      <dsp:txXfrm>
        <a:off x="6161636" y="382339"/>
        <a:ext cx="1927590" cy="1128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289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E27FF-C787-1BE8-895E-112A8A7E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2AF95-D3FF-BD77-7FA0-7A8261A03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11A9B-5625-11D8-BE58-B308D89C2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6EB61-310E-8E10-EF67-3E223FA00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41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C7DFC-4ECF-3E39-784F-6D590213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9479D-3483-12A1-69C4-9E93D9A71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BB96B-76EA-6AF1-395A-27A437123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AD1DE-6089-9088-F11D-4AF5858BB4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63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4C75-17DC-0853-E679-39187D55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F187A-D9D8-AB9C-8A73-FD5804271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215F2-ED76-ACA2-520D-EE0A3545D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E22F1-1249-2E9B-B51A-B4AA45A07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8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860E6-B0EF-03AB-1D26-26E218F2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345F6-A4E0-1E27-C655-0CC5D48E5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F8395-F17B-9A24-6DC5-8FD56BFAF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6527A-B53A-4E56-9029-016037056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87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66FE5-4B2B-C499-D165-86B7504F4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A202E-9B78-92A7-BB19-CE526F7F5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EACFF-1F48-1C95-06FE-FBADBD592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AA8DC-98F5-D464-21B8-9D377F6511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08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EB07-E14C-8AA7-D821-6FCE4805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42EF6-E132-3147-F506-21431F3DA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BFD75-FCD2-3C7B-36C0-A02203030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5EDBA-7189-636F-2A4D-A73794633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95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0D080-B901-9B3B-3911-A8337312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0B69A-7B6F-5BAE-F5E7-7C67C005F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7AD55-E9B8-3E63-E757-3F9A69190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5DAE1-4367-460B-5262-5A01EF47C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29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2F4F-536B-EBEE-7244-88E0605D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4C697-A592-7C45-18A6-4935BBF8B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F5D23-A51F-BB30-82C4-310E955E4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8CAC5-AA48-45DC-469A-D735BEA22A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2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ERSTE GROUP  |  INTERVIEW PRESENTATION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chemeClr val="tx2"/>
                </a:solidFill>
              </a:rPr>
              <a:t>Presentation title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Subtitle / topic</a:t>
            </a:r>
            <a:endParaRPr lang="en-US" sz="2000" dirty="0"/>
          </a:p>
        </p:txBody>
      </p:sp>
      <p:sp>
        <p:nvSpPr>
          <p:cNvPr id="5" name="Shape 0"/>
          <p:cNvSpPr/>
          <p:nvPr/>
        </p:nvSpPr>
        <p:spPr>
          <a:xfrm>
            <a:off x="548640" y="566928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Name  |  Date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chemeClr val="tx2"/>
                </a:solidFill>
              </a:rPr>
              <a:t>Slide title – the key message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554480"/>
            <a:ext cx="731520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spcAft>
                <a:spcPts val="12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Agenda items</a:t>
            </a:r>
            <a:endParaRPr lang="en-US" sz="1800" dirty="0"/>
          </a:p>
        </p:txBody>
      </p:sp>
      <p:sp>
        <p:nvSpPr>
          <p:cNvPr id="4" name="Shape 0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CEE Macro &amp; Fixed Income Research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4800" dirty="0">
                <a:solidFill>
                  <a:schemeClr val="accent2"/>
                </a:solidFill>
              </a:rPr>
              <a:t>01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92608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Section title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88620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Short description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CEE Macro &amp; Fixed Income Research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chemeClr val="tx2"/>
                </a:solidFill>
              </a:rPr>
              <a:t>Slide title – the key message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Supporting subtitle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spcAft>
                <a:spcPts val="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Body text</a:t>
            </a:r>
            <a:endParaRPr lang="en-US" sz="1400" dirty="0"/>
          </a:p>
        </p:txBody>
      </p:sp>
      <p:sp>
        <p:nvSpPr>
          <p:cNvPr id="5" name="Shape 0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CEE Macro &amp; Fixed Income Research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chemeClr val="tx2"/>
                </a:solidFill>
              </a:rPr>
              <a:t>Slide title – the key message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Supporting subtitle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828800"/>
            <a:ext cx="53035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Left heading</a:t>
            </a: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2331720"/>
            <a:ext cx="530352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Left content</a:t>
            </a:r>
            <a:endParaRPr lang="en-US" sz="1400" dirty="0"/>
          </a:p>
        </p:txBody>
      </p:sp>
      <p:sp>
        <p:nvSpPr>
          <p:cNvPr id="6" name="Shape 0"/>
          <p:cNvSpPr/>
          <p:nvPr/>
        </p:nvSpPr>
        <p:spPr>
          <a:xfrm>
            <a:off x="6094476" y="1828800"/>
            <a:ext cx="0" cy="420624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336792" y="1828800"/>
            <a:ext cx="53035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Right heading</a:t>
            </a:r>
            <a:endParaRPr lang="en-US" sz="1600" dirty="0"/>
          </a:p>
        </p:txBody>
      </p:sp>
      <p:sp>
        <p:nvSpPr>
          <p:cNvPr id="8" name="Text 1"/>
          <p:cNvSpPr>
            <a:spLocks noGrp="1"/>
          </p:cNvSpPr>
          <p:nvPr>
            <p:ph type="body" idx="106" hasCustomPrompt="1"/>
          </p:nvPr>
        </p:nvSpPr>
        <p:spPr>
          <a:xfrm>
            <a:off x="6336792" y="2331720"/>
            <a:ext cx="5303520" cy="370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Right content</a:t>
            </a:r>
            <a:endParaRPr lang="en-US" sz="1400" dirty="0"/>
          </a:p>
        </p:txBody>
      </p:sp>
      <p:sp>
        <p:nvSpPr>
          <p:cNvPr id="9" name="Shape 1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CEE Macro &amp; Fixed Income Research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Comment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chemeClr val="tx2"/>
                </a:solidFill>
              </a:rPr>
              <a:t>Slide title – the key message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Supporting subtitle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chart" idx="102" hasCustomPrompt="1"/>
          </p:nvPr>
        </p:nvSpPr>
        <p:spPr>
          <a:xfrm>
            <a:off x="548640" y="1828800"/>
            <a:ext cx="731520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Insert chart</a:t>
            </a:r>
            <a:endParaRPr lang="en-US" sz="1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…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8229600" y="1828800"/>
            <a:ext cx="341071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8229600" y="2697480"/>
            <a:ext cx="3410712" cy="3337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Commentary</a:t>
            </a:r>
            <a:endParaRPr lang="en-US" sz="1400" dirty="0"/>
          </a:p>
        </p:txBody>
      </p:sp>
      <p:sp>
        <p:nvSpPr>
          <p:cNvPr id="8" name="Shape 0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CEE Macro &amp; Fixed Income Research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Figur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chemeClr val="tx2"/>
                </a:solidFill>
              </a:rPr>
              <a:t>Slide title – the key message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Supporting subtitle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011680"/>
            <a:ext cx="3474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tx2"/>
                </a:solidFill>
              </a:rPr>
              <a:t>0.0%</a:t>
            </a:r>
            <a:endParaRPr 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Metric label</a:t>
            </a:r>
            <a:endParaRPr lang="en-US" sz="14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548640" y="3520440"/>
            <a:ext cx="34747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Short explanation</a:t>
            </a:r>
            <a:endParaRPr lang="en-US" sz="1300" dirty="0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4325112" y="2011680"/>
            <a:ext cx="3474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tx2"/>
                </a:solidFill>
              </a:rPr>
              <a:t>0.0%</a:t>
            </a:r>
            <a:endParaRPr lang="en-US" sz="4000" dirty="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4325112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Metric label</a:t>
            </a:r>
            <a:endParaRPr lang="en-US" sz="1400" dirty="0"/>
          </a:p>
        </p:txBody>
      </p:sp>
      <p:sp>
        <p:nvSpPr>
          <p:cNvPr id="9" name="Text 0"/>
          <p:cNvSpPr>
            <a:spLocks noGrp="1"/>
          </p:cNvSpPr>
          <p:nvPr>
            <p:ph type="body" idx="107" hasCustomPrompt="1"/>
          </p:nvPr>
        </p:nvSpPr>
        <p:spPr>
          <a:xfrm>
            <a:off x="4325112" y="3520440"/>
            <a:ext cx="34747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Short explanation</a:t>
            </a:r>
            <a:endParaRPr lang="en-US" sz="1300" dirty="0"/>
          </a:p>
        </p:txBody>
      </p:sp>
      <p:sp>
        <p:nvSpPr>
          <p:cNvPr id="10" name="Text 0"/>
          <p:cNvSpPr>
            <a:spLocks noGrp="1"/>
          </p:cNvSpPr>
          <p:nvPr>
            <p:ph type="body" idx="108" hasCustomPrompt="1"/>
          </p:nvPr>
        </p:nvSpPr>
        <p:spPr>
          <a:xfrm>
            <a:off x="8101584" y="2011680"/>
            <a:ext cx="3474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tx2"/>
                </a:solidFill>
              </a:rPr>
              <a:t>0.0%</a:t>
            </a:r>
            <a:endParaRPr lang="en-US" sz="4000" dirty="0"/>
          </a:p>
        </p:txBody>
      </p:sp>
      <p:sp>
        <p:nvSpPr>
          <p:cNvPr id="11" name="Text 0"/>
          <p:cNvSpPr>
            <a:spLocks noGrp="1"/>
          </p:cNvSpPr>
          <p:nvPr>
            <p:ph type="body" idx="109" hasCustomPrompt="1"/>
          </p:nvPr>
        </p:nvSpPr>
        <p:spPr>
          <a:xfrm>
            <a:off x="8101584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Metric label</a:t>
            </a:r>
            <a:endParaRPr lang="en-US" sz="1400" dirty="0"/>
          </a:p>
        </p:txBody>
      </p:sp>
      <p:sp>
        <p:nvSpPr>
          <p:cNvPr id="12" name="Text 0"/>
          <p:cNvSpPr>
            <a:spLocks noGrp="1"/>
          </p:cNvSpPr>
          <p:nvPr>
            <p:ph type="body" idx="110" hasCustomPrompt="1"/>
          </p:nvPr>
        </p:nvSpPr>
        <p:spPr>
          <a:xfrm>
            <a:off x="8101584" y="3520440"/>
            <a:ext cx="34747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Short explanation</a:t>
            </a:r>
            <a:endParaRPr lang="en-US" sz="1300" dirty="0"/>
          </a:p>
        </p:txBody>
      </p:sp>
      <p:sp>
        <p:nvSpPr>
          <p:cNvPr id="13" name="Shape 0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CEE Macro &amp; Fixed Income Research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chemeClr val="tx2"/>
                </a:solidFill>
              </a:rPr>
              <a:t>Slide title – the key message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Supporting subtitle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idx="102" hasCustomPrompt="1"/>
          </p:nvPr>
        </p:nvSpPr>
        <p:spPr>
          <a:xfrm>
            <a:off x="548640" y="1828800"/>
            <a:ext cx="11091672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Insert table</a:t>
            </a:r>
            <a:endParaRPr lang="en-US" sz="1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…</a:t>
            </a:r>
            <a:endParaRPr lang="en-US" sz="900" dirty="0"/>
          </a:p>
        </p:txBody>
      </p:sp>
      <p:sp>
        <p:nvSpPr>
          <p:cNvPr id="6" name="Shape 0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CEE Macro &amp; Fixed Income Research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chemeClr val="tx2"/>
                </a:solidFill>
              </a:rPr>
              <a:t>Slide title – the key message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Supporting subtitle</a:t>
            </a:r>
            <a:endParaRPr lang="en-US" sz="1400" dirty="0"/>
          </a:p>
        </p:txBody>
      </p:sp>
      <p:sp>
        <p:nvSpPr>
          <p:cNvPr id="4" name="Shape 0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CEE Macro &amp; Fixed Income Research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chemeClr val="tx2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3756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4" name="Shape 0"/>
          <p:cNvSpPr/>
          <p:nvPr/>
        </p:nvSpPr>
        <p:spPr>
          <a:xfrm>
            <a:off x="548640" y="5669280"/>
            <a:ext cx="11091672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Name  |  email  |  LinkedIn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szaniszlod2003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www.linkedin.com/in/szaniszlo-david-72479326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/>
              <a:t>INTERVIEW PRESENTATION</a:t>
            </a:r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4000" dirty="0"/>
              <a:t>Oil price pass-through to inflation in Poland, Romania and Hungary</a:t>
            </a:r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/>
              <a:t>Dávid Szaniszló | 2026.10.05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dirty="0"/>
              <a:t>Agenda</a:t>
            </a: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554480"/>
            <a:ext cx="7315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noProof="1"/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Data and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Pump Price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Crude Oil to Pump Prices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Pump Prices to HICP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Headline Inflation and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Price Caps and Tax Measures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Country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Conclusion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dirty="0"/>
              <a:t>Key Findings </a:t>
            </a: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i="1" noProof="1">
                <a:solidFill>
                  <a:srgbClr val="767676"/>
                </a:solidFill>
              </a:rPr>
              <a:t>Effects of a 10% increase in Brent crude prices</a:t>
            </a:r>
          </a:p>
          <a:p>
            <a:pPr marL="285750" indent="-285750">
              <a:lnSpc>
                <a:spcPts val="1980"/>
              </a:lnSpc>
              <a:spcBef>
                <a:spcPts val="1800"/>
              </a:spcBef>
              <a:buSzPct val="110000"/>
              <a:buFont typeface="Wingdings" pitchFamily="2" charset="2"/>
              <a:buChar char="§"/>
            </a:pPr>
            <a:r>
              <a:rPr lang="en-US" b="1" noProof="1"/>
              <a:t>Immediate effect: fast, driven by fuels.</a:t>
            </a:r>
            <a:r>
              <a:rPr lang="en-US" noProof="1"/>
              <a:t> Headline HICP +0.1-0.2% in month 1 and +0.25-0.5% after 3 months, around 60% of this is the direct effect of petrol and diesel prices.</a:t>
            </a:r>
          </a:p>
          <a:p>
            <a:pPr marL="285750" indent="-285750">
              <a:lnSpc>
                <a:spcPts val="1980"/>
              </a:lnSpc>
              <a:buSzPct val="110000"/>
              <a:buFont typeface="Wingdings" pitchFamily="2" charset="2"/>
              <a:buChar char="§"/>
            </a:pPr>
            <a:r>
              <a:rPr lang="en-US" b="1" noProof="1"/>
              <a:t>Delayed effect: mainly via food and core.</a:t>
            </a:r>
            <a:r>
              <a:rPr lang="en-US" noProof="1"/>
              <a:t> After 12 months the price level is 0.3–0.45% higher in normal times. The 2021–23 energy crisis lifts this to 0.5–0.9%, reflecting the co-movement of gas, heating and coal prices.</a:t>
            </a:r>
          </a:p>
          <a:p>
            <a:pPr marL="285750" indent="-285750">
              <a:lnSpc>
                <a:spcPts val="1980"/>
              </a:lnSpc>
              <a:buSzPct val="110000"/>
              <a:buFont typeface="Wingdings" pitchFamily="2" charset="2"/>
              <a:buChar char="§"/>
            </a:pPr>
            <a:r>
              <a:rPr lang="en-US" b="1" noProof="1"/>
              <a:t>Pump prices: pass-through within a month.</a:t>
            </a:r>
            <a:r>
              <a:rPr lang="en-US" noProof="1"/>
              <a:t> 80–100% of the crude price change reaches pre-tax prices within four weeks, p</a:t>
            </a:r>
            <a:r>
              <a:rPr lang="en-US" dirty="0" err="1"/>
              <a:t>etrol</a:t>
            </a:r>
            <a:r>
              <a:rPr lang="en-US" dirty="0"/>
              <a:t> and diesel +3-4%, as crude is only  approx. 1/3 of the retail price.</a:t>
            </a:r>
          </a:p>
          <a:p>
            <a:pPr marL="285750" indent="-285750">
              <a:lnSpc>
                <a:spcPts val="1980"/>
              </a:lnSpc>
              <a:buSzPct val="110000"/>
              <a:buFont typeface="Wingdings" pitchFamily="2" charset="2"/>
              <a:buChar char="§"/>
            </a:pPr>
            <a:r>
              <a:rPr lang="en-US" b="1" noProof="1"/>
              <a:t>Cross-country: strongest in Hungary, weakest in Romania. </a:t>
            </a:r>
            <a:r>
              <a:rPr lang="en-US" dirty="0"/>
              <a:t>Hungary reacts fastest and most strongly (+0.5% within 3 months), as fuel has the largest weight in its consumer basket (5.8%). Romania reacts slowest, but the effect keeps building through food prices (+0.45% after 12 months). Poland was hit hardest in the 2021–23 crisis (+0.9% after 12 months, vs 0.3% in normal times).</a:t>
            </a:r>
          </a:p>
          <a:p>
            <a:pPr>
              <a:lnSpc>
                <a:spcPts val="1980"/>
              </a:lnSpc>
              <a:buSzPct val="110000"/>
            </a:pPr>
            <a:endParaRPr lang="en-US" dirty="0"/>
          </a:p>
          <a:p>
            <a:pPr>
              <a:lnSpc>
                <a:spcPts val="1980"/>
              </a:lnSpc>
              <a:spcBef>
                <a:spcPts val="500"/>
              </a:spcBef>
              <a:buSzPct val="110000"/>
            </a:pPr>
            <a:r>
              <a:rPr lang="en-US" sz="1200" i="1" dirty="0">
                <a:solidFill>
                  <a:srgbClr val="767676"/>
                </a:solidFill>
              </a:rPr>
              <a:t>Normal times: 2008–21 (HICP), 2008–19 (pump prices). Source: Eurostat, ECB, FRED, EC Weekly Oil Bulletin; own estimates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dirty="0"/>
              <a:t>Data and methodology</a:t>
            </a: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idx="102" hasCustomPrompt="1"/>
          </p:nvPr>
        </p:nvSpPr>
        <p:spPr>
          <a:xfrm>
            <a:off x="548640" y="1828800"/>
            <a:ext cx="536673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noProof="1"/>
              <a:t>Approach: </a:t>
            </a:r>
          </a:p>
          <a:p>
            <a:pPr marL="0" indent="0">
              <a:buNone/>
            </a:pPr>
            <a:endParaRPr lang="en-US" sz="1800" b="1" noProof="1"/>
          </a:p>
          <a:p>
            <a:pPr marL="0" indent="0">
              <a:buNone/>
            </a:pPr>
            <a:endParaRPr lang="en-US" sz="1800" b="1" noProof="1"/>
          </a:p>
          <a:p>
            <a:pPr marL="0" indent="0">
              <a:buNone/>
            </a:pPr>
            <a:endParaRPr lang="en-US" sz="1800" b="1" noProof="1"/>
          </a:p>
          <a:p>
            <a:pPr marL="0" indent="0">
              <a:buNone/>
            </a:pPr>
            <a:endParaRPr lang="en-US" sz="1800" b="1" noProof="1"/>
          </a:p>
          <a:p>
            <a:pPr marL="0" indent="0">
              <a:buNone/>
            </a:pPr>
            <a:r>
              <a:rPr lang="en-US" sz="1800" b="1" noProof="1"/>
              <a:t>Data </a:t>
            </a:r>
            <a:r>
              <a:rPr lang="en-US" sz="1800" i="1" noProof="1"/>
              <a:t>(downloaded automatically)</a:t>
            </a:r>
            <a:r>
              <a:rPr lang="en-US" sz="1800" b="1" noProof="1"/>
              <a:t>:</a:t>
            </a:r>
          </a:p>
          <a:p>
            <a:pPr marL="285750" indent="-285750">
              <a:spcBef>
                <a:spcPts val="1536"/>
              </a:spcBef>
              <a:buFont typeface="Arial" panose="020B0604020202020204" pitchFamily="34" charset="0"/>
              <a:buChar char="•"/>
            </a:pPr>
            <a:r>
              <a:rPr lang="en-US" noProof="1"/>
              <a:t>Brent crude oil price (FRED)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Exchange rates (ECB)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Petrol and diesel prices, with and without taxes (EC Oil Bulletin)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HICP headline, components and weights (Eurostat)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Fuel price caps (official sources)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noProof="1"/>
          </a:p>
          <a:p>
            <a:pPr marL="0" indent="0">
              <a:buNone/>
            </a:pPr>
            <a:endParaRPr lang="en-US" sz="1800" i="1" noProof="1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D4C7C9D-08D5-BD44-07DB-758AF84603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466144"/>
              </p:ext>
            </p:extLst>
          </p:nvPr>
        </p:nvGraphicFramePr>
        <p:xfrm>
          <a:off x="3512312" y="1325880"/>
          <a:ext cx="8128000" cy="1893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zövegdoboz 6">
            <a:extLst>
              <a:ext uri="{FF2B5EF4-FFF2-40B4-BE49-F238E27FC236}">
                <a16:creationId xmlns:a16="http://schemas.microsoft.com/office/drawing/2014/main" id="{5FAB863E-355C-CB64-F78E-B8AA7AEC3C92}"/>
              </a:ext>
            </a:extLst>
          </p:cNvPr>
          <p:cNvSpPr txBox="1"/>
          <p:nvPr/>
        </p:nvSpPr>
        <p:spPr>
          <a:xfrm>
            <a:off x="5563898" y="2811518"/>
            <a:ext cx="1061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weekly,</a:t>
            </a:r>
          </a:p>
          <a:p>
            <a:r>
              <a:rPr lang="en-US" sz="1400" dirty="0"/>
              <a:t>2008-19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5DEFACF-7CCF-6A5D-ED2D-85767CA6A3DD}"/>
              </a:ext>
            </a:extLst>
          </p:cNvPr>
          <p:cNvSpPr txBox="1"/>
          <p:nvPr/>
        </p:nvSpPr>
        <p:spPr>
          <a:xfrm>
            <a:off x="8602105" y="2810107"/>
            <a:ext cx="1061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monthly,</a:t>
            </a:r>
          </a:p>
          <a:p>
            <a:r>
              <a:rPr lang="en-US" sz="1400" dirty="0"/>
              <a:t>2008-26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E7BF944C-6526-8572-06F0-14443F1D13D3}"/>
              </a:ext>
            </a:extLst>
          </p:cNvPr>
          <p:cNvSpPr txBox="1"/>
          <p:nvPr/>
        </p:nvSpPr>
        <p:spPr>
          <a:xfrm>
            <a:off x="5473587" y="1584036"/>
            <a:ext cx="1061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Stage 1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07191558-2A2D-B3DE-38EE-7306083FBD6E}"/>
              </a:ext>
            </a:extLst>
          </p:cNvPr>
          <p:cNvSpPr txBox="1"/>
          <p:nvPr/>
        </p:nvSpPr>
        <p:spPr>
          <a:xfrm>
            <a:off x="8556949" y="1584036"/>
            <a:ext cx="1061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Stage 2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A53B7361-31CC-0360-F2F9-C624A8F48332}"/>
              </a:ext>
            </a:extLst>
          </p:cNvPr>
          <p:cNvSpPr txBox="1">
            <a:spLocks/>
          </p:cNvSpPr>
          <p:nvPr/>
        </p:nvSpPr>
        <p:spPr>
          <a:xfrm>
            <a:off x="6813973" y="1828800"/>
            <a:ext cx="536673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 noProof="1"/>
          </a:p>
          <a:p>
            <a:endParaRPr lang="en-US" sz="1800" b="1" noProof="1"/>
          </a:p>
          <a:p>
            <a:endParaRPr lang="en-US" sz="1800" b="1" noProof="1"/>
          </a:p>
          <a:p>
            <a:endParaRPr lang="en-US" sz="1800" b="1" noProof="1"/>
          </a:p>
          <a:p>
            <a:endParaRPr lang="en-US" sz="1800" b="1" noProof="1"/>
          </a:p>
          <a:p>
            <a:r>
              <a:rPr lang="en-US" sz="1800" b="1" noProof="1"/>
              <a:t>Methodology: </a:t>
            </a:r>
          </a:p>
          <a:p>
            <a:pPr>
              <a:spcBef>
                <a:spcPts val="800"/>
              </a:spcBef>
            </a:pPr>
            <a:r>
              <a:rPr lang="en-US" b="1" noProof="1"/>
              <a:t>Stage 1 – Error-correction model</a:t>
            </a:r>
            <a:r>
              <a:rPr lang="en-US" noProof="1"/>
              <a:t> </a:t>
            </a:r>
            <a:r>
              <a:rPr lang="en-US" i="1" noProof="1"/>
              <a:t>(weekly, 2008–19)</a:t>
            </a:r>
            <a:endParaRPr lang="en-US" noProof="1"/>
          </a:p>
          <a:p>
            <a:pPr marL="360000" indent="-1800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b="1" noProof="1"/>
              <a:t>Long-run relationship</a:t>
            </a:r>
            <a:r>
              <a:rPr lang="en-US" noProof="1"/>
              <a:t>: pump price on Brent (dynamic OLS)</a:t>
            </a:r>
          </a:p>
          <a:p>
            <a:pPr marL="360000" indent="-1800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b="1" noProof="1"/>
              <a:t>Short-run</a:t>
            </a:r>
            <a:r>
              <a:rPr lang="en-US" noProof="1"/>
              <a:t>: speed of adjustment, lags up to 8 weeks (AIC)</a:t>
            </a:r>
          </a:p>
          <a:p>
            <a:pPr>
              <a:spcBef>
                <a:spcPts val="400"/>
              </a:spcBef>
            </a:pPr>
            <a:r>
              <a:rPr lang="en-US" b="1" noProof="1"/>
              <a:t>Stage 2 – Local projections</a:t>
            </a:r>
            <a:r>
              <a:rPr lang="en-US" noProof="1"/>
              <a:t> </a:t>
            </a:r>
            <a:r>
              <a:rPr lang="en-US" i="1" noProof="1"/>
              <a:t>(monthly, 2008–26)</a:t>
            </a:r>
            <a:endParaRPr lang="en-US" noProof="1"/>
          </a:p>
          <a:p>
            <a:pPr marL="360000" indent="-1800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noProof="1"/>
              <a:t>One regression per component and horizon (0–12 months)</a:t>
            </a:r>
          </a:p>
          <a:p>
            <a:pPr marL="360000" indent="-1800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noProof="1"/>
              <a:t>Controls: exchange rate, demand, taxes, price caps</a:t>
            </a:r>
          </a:p>
          <a:p>
            <a:pPr marL="360000" indent="-1800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noProof="1"/>
              <a:t>vs VAR: more robust, no identification needed</a:t>
            </a:r>
          </a:p>
          <a:p>
            <a:br>
              <a:rPr lang="en-US" noProof="1"/>
            </a:br>
            <a:endParaRPr lang="en-US" noProof="1"/>
          </a:p>
          <a:p>
            <a:br>
              <a:rPr lang="en-US" sz="1800" noProof="1"/>
            </a:br>
            <a:endParaRPr lang="en-US" sz="1800" b="1" noProof="1"/>
          </a:p>
          <a:p>
            <a:endParaRPr lang="en-US" sz="1800" i="1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C6A37-AA7D-71E5-AB9F-0663ACEB9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7622FE-480B-0E64-073D-CA1CB8F637C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dirty="0"/>
              <a:t>Pump price structure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E769BCF-6B6D-3BF0-5D88-E51A453D97D7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8597A11-6639-3D79-BA47-881B64546F4E}"/>
              </a:ext>
            </a:extLst>
          </p:cNvPr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F3DC390-8307-B873-B4C5-F5AF31EB6D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78FF45C7-2AE1-C308-AA74-7CCAD915F5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91"/>
          <a:stretch>
            <a:fillRect/>
          </a:stretch>
        </p:blipFill>
        <p:spPr>
          <a:xfrm>
            <a:off x="1767620" y="1236772"/>
            <a:ext cx="9415492" cy="2788474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B9068F24-00EE-04BD-911B-22A9CD58B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270" y="4119018"/>
            <a:ext cx="9518411" cy="191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20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A0D2F-D05E-1995-C232-0D903CFF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38ED7E-8257-7CE3-4D14-7492ADBDFB1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hu-HU" dirty="0" err="1"/>
              <a:t>Crude</a:t>
            </a:r>
            <a:r>
              <a:rPr lang="hu-HU" dirty="0"/>
              <a:t> </a:t>
            </a:r>
            <a:r>
              <a:rPr lang="hu-HU" dirty="0" err="1"/>
              <a:t>Oil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Pump</a:t>
            </a:r>
            <a:r>
              <a:rPr lang="hu-HU" dirty="0"/>
              <a:t> </a:t>
            </a:r>
            <a:r>
              <a:rPr lang="hu-HU" dirty="0" err="1"/>
              <a:t>Prices</a:t>
            </a:r>
            <a:endParaRPr lang="en-US" sz="2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F629CA6-7952-8C6E-09EC-38A23C53629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6EA32FAA-C336-4E87-AB28-15215746FBCB}"/>
              </a:ext>
            </a:extLst>
          </p:cNvPr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06DEE52-4B63-CADB-BC3F-16EABB407B6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96BF58A-FCE6-FB05-8CAA-DE05C1FC8308}"/>
              </a:ext>
            </a:extLst>
          </p:cNvPr>
          <p:cNvSpPr txBox="1"/>
          <p:nvPr/>
        </p:nvSpPr>
        <p:spPr>
          <a:xfrm>
            <a:off x="7924800" y="1695238"/>
            <a:ext cx="3715512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/>
              <a:t>Takeaways:</a:t>
            </a:r>
          </a:p>
          <a:p>
            <a:endParaRPr lang="en-US" b="1" noProof="1"/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1400" b="1" noProof="1"/>
              <a:t>2008-19</a:t>
            </a:r>
            <a:r>
              <a:rPr lang="en-US" sz="1400" noProof="1"/>
              <a:t>: pass-through </a:t>
            </a:r>
            <a:r>
              <a:rPr lang="en-US" sz="1400" b="1" noProof="1"/>
              <a:t>around 1 </a:t>
            </a:r>
            <a:r>
              <a:rPr lang="en-US" sz="1400" noProof="1"/>
              <a:t>for both fuels in all three countries.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1400" noProof="1"/>
              <a:t>Refiners and retailers </a:t>
            </a:r>
            <a:r>
              <a:rPr lang="en-US" sz="1400" b="1" noProof="1"/>
              <a:t>pass crude cost changes on fully:</a:t>
            </a:r>
            <a:r>
              <a:rPr lang="en-US" sz="1400" noProof="1"/>
              <a:t> they neither absorb nor add to them.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1400" b="1" noProof="1"/>
              <a:t>Since 2020, refining margins widened:</a:t>
            </a:r>
            <a:r>
              <a:rPr lang="en-US" sz="1400" noProof="1"/>
              <a:t> That's why it's above 1, especially for diesel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noProof="1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2AA3A5C7-44E3-8051-3FD9-4F1032A60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92393"/>
            <a:ext cx="7281015" cy="4534087"/>
          </a:xfrm>
          <a:prstGeom prst="rect">
            <a:avLst/>
          </a:prstGeom>
        </p:spPr>
      </p:pic>
      <p:sp>
        <p:nvSpPr>
          <p:cNvPr id="14" name="Tartalom helye 13">
            <a:extLst>
              <a:ext uri="{FF2B5EF4-FFF2-40B4-BE49-F238E27FC236}">
                <a16:creationId xmlns:a16="http://schemas.microsoft.com/office/drawing/2014/main" id="{19A0EE51-CE66-E8D1-CFFB-CE195990FB31}"/>
              </a:ext>
            </a:extLst>
          </p:cNvPr>
          <p:cNvSpPr>
            <a:spLocks noGrp="1"/>
          </p:cNvSpPr>
          <p:nvPr>
            <p:ph idx="10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59B9-B0B7-C4F1-7B24-D3A3EB8A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ECE1AE-EE46-2E1C-0262-25AAFC1C643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hu-HU" dirty="0" err="1"/>
              <a:t>Crude</a:t>
            </a:r>
            <a:r>
              <a:rPr lang="hu-HU" dirty="0"/>
              <a:t> </a:t>
            </a:r>
            <a:r>
              <a:rPr lang="hu-HU" dirty="0" err="1"/>
              <a:t>Oil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Pump</a:t>
            </a:r>
            <a:r>
              <a:rPr lang="hu-HU" dirty="0"/>
              <a:t> </a:t>
            </a:r>
            <a:r>
              <a:rPr lang="hu-HU" dirty="0" err="1"/>
              <a:t>Prices</a:t>
            </a:r>
            <a:endParaRPr lang="en-US" sz="2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3E524F0-FE76-3719-3533-3784EE4148E2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84F0F69-21B2-BE28-82A5-6A8A47877F04}"/>
              </a:ext>
            </a:extLst>
          </p:cNvPr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A7F39A0-A673-8272-291B-E76C5FA2DE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AB62BF1B-66BE-6E9A-9C3F-6839C5FCE23E}"/>
              </a:ext>
            </a:extLst>
          </p:cNvPr>
          <p:cNvSpPr txBox="1"/>
          <p:nvPr/>
        </p:nvSpPr>
        <p:spPr>
          <a:xfrm>
            <a:off x="548640" y="5003096"/>
            <a:ext cx="11538712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hu-HU" sz="1400" b="1" dirty="0" err="1"/>
              <a:t>Fast</a:t>
            </a:r>
            <a:r>
              <a:rPr lang="hu-HU" sz="1400" b="1" dirty="0"/>
              <a:t>:</a:t>
            </a:r>
            <a:r>
              <a:rPr lang="hu-HU" sz="1400" dirty="0"/>
              <a:t> </a:t>
            </a:r>
            <a:r>
              <a:rPr lang="hu-HU" sz="1400" dirty="0" err="1"/>
              <a:t>apporx</a:t>
            </a:r>
            <a:r>
              <a:rPr lang="hu-HU" sz="1400" dirty="0"/>
              <a:t>. 25% of a </a:t>
            </a:r>
            <a:r>
              <a:rPr lang="hu-HU" sz="1400" dirty="0" err="1"/>
              <a:t>crude</a:t>
            </a:r>
            <a:r>
              <a:rPr lang="hu-HU" sz="1400" dirty="0"/>
              <a:t> </a:t>
            </a:r>
            <a:r>
              <a:rPr lang="hu-HU" sz="1400" dirty="0" err="1"/>
              <a:t>price</a:t>
            </a:r>
            <a:r>
              <a:rPr lang="hu-HU" sz="1400" dirty="0"/>
              <a:t> </a:t>
            </a:r>
            <a:r>
              <a:rPr lang="hu-HU" sz="1400" dirty="0" err="1"/>
              <a:t>change</a:t>
            </a:r>
            <a:r>
              <a:rPr lang="hu-HU" sz="1400" dirty="0"/>
              <a:t> </a:t>
            </a:r>
            <a:r>
              <a:rPr lang="hu-HU" sz="1400" dirty="0" err="1"/>
              <a:t>reaches</a:t>
            </a:r>
            <a:r>
              <a:rPr lang="hu-HU" sz="1400" dirty="0"/>
              <a:t> </a:t>
            </a:r>
            <a:r>
              <a:rPr lang="hu-HU" sz="1400" dirty="0" err="1"/>
              <a:t>pre-tax</a:t>
            </a:r>
            <a:r>
              <a:rPr lang="hu-HU" sz="1400" dirty="0"/>
              <a:t> </a:t>
            </a:r>
            <a:r>
              <a:rPr lang="hu-HU" sz="1400" dirty="0" err="1"/>
              <a:t>pump</a:t>
            </a:r>
            <a:r>
              <a:rPr lang="hu-HU" sz="1400" dirty="0"/>
              <a:t> </a:t>
            </a:r>
            <a:r>
              <a:rPr lang="hu-HU" sz="1400" dirty="0" err="1"/>
              <a:t>prices</a:t>
            </a:r>
            <a:r>
              <a:rPr lang="hu-HU" sz="1400" dirty="0"/>
              <a:t> </a:t>
            </a:r>
            <a:r>
              <a:rPr lang="hu-HU" sz="1400" dirty="0" err="1"/>
              <a:t>within</a:t>
            </a:r>
            <a:r>
              <a:rPr lang="hu-HU" sz="1400" dirty="0"/>
              <a:t> </a:t>
            </a:r>
            <a:r>
              <a:rPr lang="hu-HU" sz="1400" dirty="0" err="1"/>
              <a:t>the</a:t>
            </a:r>
            <a:r>
              <a:rPr lang="hu-HU" sz="1400" dirty="0"/>
              <a:t> 1 </a:t>
            </a:r>
            <a:r>
              <a:rPr lang="hu-HU" sz="1400" dirty="0" err="1"/>
              <a:t>week</a:t>
            </a:r>
            <a:r>
              <a:rPr lang="hu-HU" sz="1400" dirty="0"/>
              <a:t>, and 80–100% </a:t>
            </a:r>
            <a:r>
              <a:rPr lang="hu-HU" sz="1400" dirty="0" err="1"/>
              <a:t>within</a:t>
            </a:r>
            <a:r>
              <a:rPr lang="hu-HU" sz="1400" dirty="0"/>
              <a:t> 4 </a:t>
            </a:r>
            <a:r>
              <a:rPr lang="hu-HU" sz="1400" dirty="0" err="1"/>
              <a:t>weeks</a:t>
            </a:r>
            <a:r>
              <a:rPr lang="hu-HU" sz="1400" dirty="0"/>
              <a:t>.</a:t>
            </a:r>
            <a:endParaRPr lang="en-US" sz="1400" noProof="1"/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hu-HU" sz="1400" b="1" dirty="0"/>
              <a:t>Hungary </a:t>
            </a:r>
            <a:r>
              <a:rPr lang="hu-HU" sz="1400" b="1" dirty="0" err="1"/>
              <a:t>adjusts</a:t>
            </a:r>
            <a:r>
              <a:rPr lang="hu-HU" sz="1400" b="1" dirty="0"/>
              <a:t> </a:t>
            </a:r>
            <a:r>
              <a:rPr lang="hu-HU" sz="1400" b="1" dirty="0" err="1"/>
              <a:t>fastest</a:t>
            </a:r>
            <a:r>
              <a:rPr lang="hu-HU" sz="1400" b="1" dirty="0"/>
              <a:t>:</a:t>
            </a:r>
            <a:r>
              <a:rPr lang="hu-HU" sz="1400" dirty="0"/>
              <a:t> </a:t>
            </a:r>
            <a:r>
              <a:rPr lang="hu-HU" sz="1400" dirty="0" err="1"/>
              <a:t>around</a:t>
            </a:r>
            <a:r>
              <a:rPr lang="hu-HU" sz="1400" dirty="0"/>
              <a:t> 80% of </a:t>
            </a:r>
            <a:r>
              <a:rPr lang="hu-HU" sz="1400" dirty="0" err="1"/>
              <a:t>the</a:t>
            </a:r>
            <a:r>
              <a:rPr lang="hu-HU" sz="1400" dirty="0"/>
              <a:t> </a:t>
            </a:r>
            <a:r>
              <a:rPr lang="hu-HU" sz="1400" dirty="0" err="1"/>
              <a:t>change</a:t>
            </a:r>
            <a:r>
              <a:rPr lang="hu-HU" sz="1400" dirty="0"/>
              <a:t> is </a:t>
            </a:r>
            <a:r>
              <a:rPr lang="hu-HU" sz="1400" dirty="0" err="1"/>
              <a:t>passed</a:t>
            </a:r>
            <a:r>
              <a:rPr lang="hu-HU" sz="1400" dirty="0"/>
              <a:t> </a:t>
            </a:r>
            <a:r>
              <a:rPr lang="hu-HU" sz="1400" dirty="0" err="1"/>
              <a:t>through</a:t>
            </a:r>
            <a:r>
              <a:rPr lang="hu-HU" sz="1400" dirty="0"/>
              <a:t> in 1 </a:t>
            </a:r>
            <a:r>
              <a:rPr lang="hu-HU" sz="1400" dirty="0" err="1"/>
              <a:t>week</a:t>
            </a:r>
            <a:r>
              <a:rPr lang="hu-HU" sz="1400" dirty="0"/>
              <a:t>, consistent </a:t>
            </a:r>
            <a:r>
              <a:rPr lang="hu-HU" sz="1400" dirty="0" err="1"/>
              <a:t>with</a:t>
            </a:r>
            <a:r>
              <a:rPr lang="hu-HU" sz="1400" dirty="0"/>
              <a:t> formula-</a:t>
            </a:r>
            <a:r>
              <a:rPr lang="hu-HU" sz="1400" dirty="0" err="1"/>
              <a:t>based</a:t>
            </a:r>
            <a:r>
              <a:rPr lang="hu-HU" sz="1400" dirty="0"/>
              <a:t> </a:t>
            </a:r>
            <a:r>
              <a:rPr lang="hu-HU" sz="1400" dirty="0" err="1"/>
              <a:t>wholesale</a:t>
            </a:r>
            <a:r>
              <a:rPr lang="hu-HU" sz="1400" dirty="0"/>
              <a:t> </a:t>
            </a:r>
            <a:r>
              <a:rPr lang="hu-HU" sz="1400" dirty="0" err="1"/>
              <a:t>pricing</a:t>
            </a:r>
            <a:r>
              <a:rPr lang="hu-HU" sz="1400" dirty="0"/>
              <a:t>.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hu-HU" sz="1400" b="1" dirty="0"/>
              <a:t>Poland shows </a:t>
            </a:r>
            <a:r>
              <a:rPr lang="hu-HU" sz="1400" b="1" dirty="0" err="1"/>
              <a:t>the</a:t>
            </a:r>
            <a:r>
              <a:rPr lang="hu-HU" sz="1400" b="1" dirty="0"/>
              <a:t> most </a:t>
            </a:r>
            <a:r>
              <a:rPr lang="hu-HU" sz="1400" b="1" dirty="0" err="1"/>
              <a:t>gradual</a:t>
            </a:r>
            <a:r>
              <a:rPr lang="hu-HU" sz="1400" b="1" dirty="0"/>
              <a:t> </a:t>
            </a:r>
            <a:r>
              <a:rPr lang="hu-HU" sz="1400" b="1" dirty="0" err="1"/>
              <a:t>initial</a:t>
            </a:r>
            <a:r>
              <a:rPr lang="hu-HU" sz="1400" b="1" dirty="0"/>
              <a:t> </a:t>
            </a:r>
            <a:r>
              <a:rPr lang="hu-HU" sz="1400" b="1" dirty="0" err="1"/>
              <a:t>response</a:t>
            </a:r>
            <a:r>
              <a:rPr lang="hu-HU" sz="1400" dirty="0"/>
              <a:t> (0.79 </a:t>
            </a:r>
            <a:r>
              <a:rPr lang="hu-HU" sz="1400" dirty="0" err="1"/>
              <a:t>after</a:t>
            </a:r>
            <a:r>
              <a:rPr lang="hu-HU" sz="1400" dirty="0"/>
              <a:t> </a:t>
            </a:r>
            <a:r>
              <a:rPr lang="hu-HU" sz="1400" dirty="0" err="1"/>
              <a:t>four</a:t>
            </a:r>
            <a:r>
              <a:rPr lang="hu-HU" sz="1400" dirty="0"/>
              <a:t> </a:t>
            </a:r>
            <a:r>
              <a:rPr lang="hu-HU" sz="1400" dirty="0" err="1"/>
              <a:t>weeks</a:t>
            </a:r>
            <a:r>
              <a:rPr lang="hu-HU" sz="1400" dirty="0"/>
              <a:t>), </a:t>
            </a:r>
            <a:r>
              <a:rPr lang="hu-HU" sz="1400" dirty="0" err="1"/>
              <a:t>while</a:t>
            </a:r>
            <a:r>
              <a:rPr lang="hu-HU" sz="1400" dirty="0"/>
              <a:t> </a:t>
            </a:r>
            <a:r>
              <a:rPr lang="hu-HU" sz="1400" dirty="0" err="1"/>
              <a:t>Romanian</a:t>
            </a:r>
            <a:r>
              <a:rPr lang="hu-HU" sz="1400" dirty="0"/>
              <a:t> diesel has </a:t>
            </a:r>
            <a:r>
              <a:rPr lang="hu-HU" sz="1400" dirty="0" err="1"/>
              <a:t>the</a:t>
            </a:r>
            <a:r>
              <a:rPr lang="hu-HU" sz="1400" dirty="0"/>
              <a:t> </a:t>
            </a:r>
            <a:r>
              <a:rPr lang="hu-HU" sz="1400" dirty="0" err="1"/>
              <a:t>longest</a:t>
            </a:r>
            <a:r>
              <a:rPr lang="hu-HU" sz="1400" dirty="0"/>
              <a:t> </a:t>
            </a:r>
            <a:r>
              <a:rPr lang="hu-HU" sz="1400" dirty="0" err="1"/>
              <a:t>tail</a:t>
            </a:r>
            <a:r>
              <a:rPr lang="hu-HU" sz="1400" dirty="0"/>
              <a:t> (16 </a:t>
            </a:r>
            <a:r>
              <a:rPr lang="hu-HU" sz="1400" dirty="0" err="1"/>
              <a:t>weeks</a:t>
            </a:r>
            <a:r>
              <a:rPr lang="hu-HU" sz="1400" dirty="0"/>
              <a:t> </a:t>
            </a:r>
            <a:r>
              <a:rPr lang="hu-HU" sz="1400" dirty="0" err="1"/>
              <a:t>to</a:t>
            </a:r>
            <a:r>
              <a:rPr lang="hu-HU" sz="1400" dirty="0"/>
              <a:t> 90%).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sz="1400" b="1" noProof="1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41984D91-DA50-878C-9F5E-C91335736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58" y="1349311"/>
            <a:ext cx="10196093" cy="3493765"/>
          </a:xfrm>
          <a:prstGeom prst="rect">
            <a:avLst/>
          </a:prstGeom>
        </p:spPr>
      </p:pic>
      <p:sp>
        <p:nvSpPr>
          <p:cNvPr id="14" name="Tartalom helye 13">
            <a:extLst>
              <a:ext uri="{FF2B5EF4-FFF2-40B4-BE49-F238E27FC236}">
                <a16:creationId xmlns:a16="http://schemas.microsoft.com/office/drawing/2014/main" id="{DCA8FABD-F7F3-1BA0-4B67-A69A8D319B29}"/>
              </a:ext>
            </a:extLst>
          </p:cNvPr>
          <p:cNvSpPr>
            <a:spLocks noGrp="1"/>
          </p:cNvSpPr>
          <p:nvPr>
            <p:ph idx="10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29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BBAB-7E3C-82C2-77BE-0099078E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441FB1D-9A3B-DEB3-12ED-24B496611A76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hu-HU" dirty="0" err="1"/>
              <a:t>Pump</a:t>
            </a:r>
            <a:r>
              <a:rPr lang="hu-HU" dirty="0"/>
              <a:t> </a:t>
            </a:r>
            <a:r>
              <a:rPr lang="hu-HU" dirty="0" err="1"/>
              <a:t>Prices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Headline </a:t>
            </a:r>
            <a:r>
              <a:rPr lang="hu-HU" dirty="0" err="1"/>
              <a:t>Inflation</a:t>
            </a:r>
            <a:endParaRPr lang="en-US" sz="2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88474E0-6F81-26F1-43E9-A8F95B5A2777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972C4DF-5135-A82E-7E3B-7F5EC21ADA9F}"/>
              </a:ext>
            </a:extLst>
          </p:cNvPr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2C9EB83-C5D9-BD62-BFC7-70242B9B3E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CC7BA3C1-B3B9-C56F-B74A-7CD3139D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36" y="1252158"/>
            <a:ext cx="7781512" cy="4796277"/>
          </a:xfrm>
          <a:prstGeom prst="rect">
            <a:avLst/>
          </a:prstGeom>
        </p:spPr>
      </p:pic>
      <p:sp>
        <p:nvSpPr>
          <p:cNvPr id="14" name="Tartalom helye 13">
            <a:extLst>
              <a:ext uri="{FF2B5EF4-FFF2-40B4-BE49-F238E27FC236}">
                <a16:creationId xmlns:a16="http://schemas.microsoft.com/office/drawing/2014/main" id="{DC9EBA23-51B6-091E-DA8A-92F027939A4E}"/>
              </a:ext>
            </a:extLst>
          </p:cNvPr>
          <p:cNvSpPr>
            <a:spLocks noGrp="1"/>
          </p:cNvSpPr>
          <p:nvPr>
            <p:ph idx="10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B101F559-00BA-2D2B-7F1C-836328BAD63D}"/>
              </a:ext>
            </a:extLst>
          </p:cNvPr>
          <p:cNvSpPr txBox="1"/>
          <p:nvPr/>
        </p:nvSpPr>
        <p:spPr>
          <a:xfrm>
            <a:off x="8069344" y="1737360"/>
            <a:ext cx="3712370" cy="4301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/>
              <a:t> Takeaways:</a:t>
            </a:r>
          </a:p>
          <a:p>
            <a:endParaRPr lang="en-US" b="1" noProof="1"/>
          </a:p>
          <a:p>
            <a:pPr marL="360000" indent="-1800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hu-HU" sz="1400" b="1" dirty="0" err="1"/>
              <a:t>Direct</a:t>
            </a:r>
            <a:r>
              <a:rPr lang="hu-HU" sz="1400" b="1" dirty="0"/>
              <a:t> </a:t>
            </a:r>
            <a:r>
              <a:rPr lang="hu-HU" sz="1400" b="1" dirty="0" err="1"/>
              <a:t>effect</a:t>
            </a:r>
            <a:r>
              <a:rPr lang="hu-HU" sz="1400" b="1" dirty="0"/>
              <a:t> </a:t>
            </a:r>
            <a:r>
              <a:rPr lang="hu-HU" sz="1400" dirty="0"/>
              <a:t>of </a:t>
            </a:r>
            <a:r>
              <a:rPr lang="hu-HU" sz="1400" dirty="0" err="1"/>
              <a:t>fuels</a:t>
            </a:r>
            <a:r>
              <a:rPr lang="hu-HU" sz="1400" dirty="0"/>
              <a:t> </a:t>
            </a:r>
            <a:r>
              <a:rPr lang="hu-HU" sz="1400" dirty="0" err="1"/>
              <a:t>after</a:t>
            </a:r>
            <a:r>
              <a:rPr lang="hu-HU" sz="1400" dirty="0"/>
              <a:t> 3 </a:t>
            </a:r>
            <a:r>
              <a:rPr lang="hu-HU" sz="1400" dirty="0" err="1"/>
              <a:t>months</a:t>
            </a:r>
            <a:r>
              <a:rPr lang="hu-HU" sz="1400" dirty="0"/>
              <a:t>: </a:t>
            </a:r>
            <a:r>
              <a:rPr lang="hu-HU" sz="1400" b="1" dirty="0"/>
              <a:t>0.18 0.29 pp </a:t>
            </a:r>
            <a:r>
              <a:rPr lang="hu-HU" sz="1400" dirty="0"/>
              <a:t>of </a:t>
            </a:r>
            <a:r>
              <a:rPr lang="hu-HU" sz="1400" dirty="0" err="1"/>
              <a:t>headline</a:t>
            </a:r>
            <a:r>
              <a:rPr lang="hu-HU" sz="1400" dirty="0"/>
              <a:t> per 10% </a:t>
            </a:r>
            <a:r>
              <a:rPr lang="hu-HU" sz="1400" dirty="0" err="1"/>
              <a:t>Brent</a:t>
            </a:r>
            <a:r>
              <a:rPr lang="hu-HU" sz="1400" dirty="0"/>
              <a:t> </a:t>
            </a:r>
            <a:r>
              <a:rPr lang="hu-HU" sz="1400" dirty="0" err="1"/>
              <a:t>increase</a:t>
            </a:r>
            <a:r>
              <a:rPr lang="hu-HU" sz="1400" dirty="0"/>
              <a:t>, </a:t>
            </a:r>
            <a:r>
              <a:rPr lang="hu-HU" sz="1400" dirty="0" err="1"/>
              <a:t>largest</a:t>
            </a:r>
            <a:r>
              <a:rPr lang="hu-HU" sz="1400" dirty="0"/>
              <a:t> in Hungary (</a:t>
            </a:r>
            <a:r>
              <a:rPr lang="hu-HU" sz="1400" dirty="0" err="1"/>
              <a:t>higher</a:t>
            </a:r>
            <a:r>
              <a:rPr lang="hu-HU" sz="1400" dirty="0"/>
              <a:t> </a:t>
            </a:r>
            <a:r>
              <a:rPr lang="hu-HU" sz="1400" dirty="0" err="1"/>
              <a:t>fuel</a:t>
            </a:r>
            <a:r>
              <a:rPr lang="hu-HU" sz="1400" dirty="0"/>
              <a:t> </a:t>
            </a:r>
            <a:r>
              <a:rPr lang="hu-HU" sz="1400" dirty="0" err="1"/>
              <a:t>weight</a:t>
            </a:r>
            <a:r>
              <a:rPr lang="hu-HU" sz="1400" dirty="0"/>
              <a:t>)</a:t>
            </a:r>
          </a:p>
          <a:p>
            <a:pPr marL="360000" indent="-1800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hu-HU" sz="1400" b="1" dirty="0"/>
              <a:t>Both </a:t>
            </a:r>
            <a:r>
              <a:rPr lang="hu-HU" sz="1400" b="1" dirty="0" err="1"/>
              <a:t>approaches</a:t>
            </a:r>
            <a:r>
              <a:rPr lang="hu-HU" sz="1400" b="1" dirty="0"/>
              <a:t> </a:t>
            </a:r>
            <a:r>
              <a:rPr lang="hu-HU" sz="1400" b="1" dirty="0" err="1"/>
              <a:t>give</a:t>
            </a:r>
            <a:r>
              <a:rPr lang="hu-HU" sz="1400" b="1" dirty="0"/>
              <a:t> consistent </a:t>
            </a:r>
            <a:r>
              <a:rPr lang="hu-HU" sz="1400" b="1" dirty="0" err="1"/>
              <a:t>results</a:t>
            </a:r>
            <a:r>
              <a:rPr lang="hu-HU" sz="1400" b="1" dirty="0"/>
              <a:t>: </a:t>
            </a:r>
            <a:r>
              <a:rPr lang="hu-HU" sz="1400" dirty="0" err="1"/>
              <a:t>effect</a:t>
            </a:r>
            <a:r>
              <a:rPr lang="hu-HU" sz="1400" dirty="0"/>
              <a:t> </a:t>
            </a:r>
            <a:r>
              <a:rPr lang="hu-HU" sz="1400" dirty="0" err="1"/>
              <a:t>built</a:t>
            </a:r>
            <a:r>
              <a:rPr lang="hu-HU" sz="1400" dirty="0"/>
              <a:t> </a:t>
            </a:r>
            <a:r>
              <a:rPr lang="hu-HU" sz="1400" dirty="0" err="1"/>
              <a:t>up</a:t>
            </a:r>
            <a:r>
              <a:rPr lang="hu-HU" sz="1400" dirty="0"/>
              <a:t> </a:t>
            </a:r>
            <a:r>
              <a:rPr lang="hu-HU" sz="1400" dirty="0" err="1"/>
              <a:t>from</a:t>
            </a:r>
            <a:r>
              <a:rPr lang="hu-HU" sz="1400" dirty="0"/>
              <a:t> </a:t>
            </a:r>
            <a:r>
              <a:rPr lang="hu-HU" sz="1400" dirty="0" err="1"/>
              <a:t>pump</a:t>
            </a:r>
            <a:r>
              <a:rPr lang="hu-HU" sz="1400" dirty="0"/>
              <a:t> </a:t>
            </a:r>
            <a:r>
              <a:rPr lang="hu-HU" sz="1400" dirty="0" err="1"/>
              <a:t>prices</a:t>
            </a:r>
            <a:r>
              <a:rPr lang="hu-HU" sz="1400" dirty="0"/>
              <a:t> (</a:t>
            </a:r>
            <a:r>
              <a:rPr lang="hu-HU" sz="1400" dirty="0" err="1"/>
              <a:t>Stage</a:t>
            </a:r>
            <a:r>
              <a:rPr lang="hu-HU" sz="1400" dirty="0"/>
              <a:t> 1) </a:t>
            </a:r>
            <a:r>
              <a:rPr lang="hu-HU" sz="1400" dirty="0" err="1"/>
              <a:t>matches</a:t>
            </a:r>
            <a:r>
              <a:rPr lang="hu-HU" sz="1400" dirty="0"/>
              <a:t> </a:t>
            </a:r>
            <a:r>
              <a:rPr lang="hu-HU" sz="1400" dirty="0" err="1"/>
              <a:t>direct</a:t>
            </a:r>
            <a:r>
              <a:rPr lang="hu-HU" sz="1400" dirty="0"/>
              <a:t> HICP </a:t>
            </a:r>
            <a:r>
              <a:rPr lang="hu-HU" sz="1400" dirty="0" err="1"/>
              <a:t>estimate</a:t>
            </a:r>
            <a:r>
              <a:rPr lang="hu-HU" sz="1400" dirty="0"/>
              <a:t> (</a:t>
            </a:r>
            <a:r>
              <a:rPr lang="hu-HU" sz="1400" dirty="0" err="1"/>
              <a:t>Stage</a:t>
            </a:r>
            <a:r>
              <a:rPr lang="hu-HU" sz="1400" dirty="0"/>
              <a:t> 2)</a:t>
            </a:r>
            <a:r>
              <a:rPr lang="hu-HU" sz="1400" b="1" dirty="0"/>
              <a:t> </a:t>
            </a:r>
          </a:p>
          <a:p>
            <a:pPr marL="360000" indent="-1800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hu-HU" sz="1400" b="1" dirty="0" err="1"/>
              <a:t>Fuels</a:t>
            </a:r>
            <a:r>
              <a:rPr lang="hu-HU" sz="1400" b="1" dirty="0"/>
              <a:t> account </a:t>
            </a:r>
            <a:r>
              <a:rPr lang="hu-HU" sz="1400" b="1" dirty="0" err="1"/>
              <a:t>for</a:t>
            </a:r>
            <a:r>
              <a:rPr lang="hu-HU" sz="1400" b="1" dirty="0"/>
              <a:t> </a:t>
            </a:r>
            <a:r>
              <a:rPr lang="hu-HU" sz="1400" b="1" dirty="0" err="1"/>
              <a:t>around</a:t>
            </a:r>
            <a:r>
              <a:rPr lang="hu-HU" sz="1400" b="1" dirty="0"/>
              <a:t> 60% of </a:t>
            </a:r>
            <a:r>
              <a:rPr lang="hu-HU" sz="1400" b="1" dirty="0" err="1"/>
              <a:t>the</a:t>
            </a:r>
            <a:r>
              <a:rPr lang="hu-HU" sz="1400" b="1" dirty="0"/>
              <a:t> </a:t>
            </a:r>
            <a:r>
              <a:rPr lang="hu-HU" sz="1400" b="1" dirty="0" err="1"/>
              <a:t>headline</a:t>
            </a:r>
            <a:r>
              <a:rPr lang="hu-HU" sz="1400" b="1" dirty="0"/>
              <a:t> </a:t>
            </a:r>
            <a:r>
              <a:rPr lang="hu-HU" sz="1400" b="1" dirty="0" err="1"/>
              <a:t>response</a:t>
            </a:r>
            <a:r>
              <a:rPr lang="hu-HU" sz="1400" b="1" dirty="0"/>
              <a:t> </a:t>
            </a:r>
            <a:r>
              <a:rPr lang="hu-HU" sz="1400" b="1" dirty="0" err="1"/>
              <a:t>after</a:t>
            </a:r>
            <a:r>
              <a:rPr lang="hu-HU" sz="1400" b="1" dirty="0"/>
              <a:t> 3 </a:t>
            </a:r>
            <a:r>
              <a:rPr lang="hu-HU" sz="1400" b="1" dirty="0" err="1"/>
              <a:t>months</a:t>
            </a:r>
            <a:r>
              <a:rPr lang="hu-HU" sz="1400" b="1" dirty="0"/>
              <a:t>,</a:t>
            </a:r>
            <a:r>
              <a:rPr lang="hu-HU" sz="1400" dirty="0"/>
              <a:t> </a:t>
            </a:r>
            <a:r>
              <a:rPr lang="hu-HU" sz="1400" dirty="0" err="1"/>
              <a:t>the</a:t>
            </a:r>
            <a:r>
              <a:rPr lang="hu-HU" sz="1400" dirty="0"/>
              <a:t> </a:t>
            </a:r>
            <a:r>
              <a:rPr lang="hu-HU" sz="1400" dirty="0" err="1"/>
              <a:t>remainder</a:t>
            </a:r>
            <a:r>
              <a:rPr lang="hu-HU" sz="1400" dirty="0"/>
              <a:t> </a:t>
            </a:r>
            <a:r>
              <a:rPr lang="hu-HU" sz="1400" dirty="0" err="1"/>
              <a:t>reflects</a:t>
            </a:r>
            <a:r>
              <a:rPr lang="hu-HU" sz="1400" dirty="0"/>
              <a:t> </a:t>
            </a:r>
            <a:r>
              <a:rPr lang="hu-HU" sz="1400" dirty="0" err="1"/>
              <a:t>other</a:t>
            </a:r>
            <a:r>
              <a:rPr lang="hu-HU" sz="1400" dirty="0"/>
              <a:t> </a:t>
            </a:r>
            <a:r>
              <a:rPr lang="hu-HU" sz="1400" dirty="0" err="1"/>
              <a:t>energy</a:t>
            </a:r>
            <a:r>
              <a:rPr lang="hu-HU" sz="1400" dirty="0"/>
              <a:t>, </a:t>
            </a:r>
            <a:r>
              <a:rPr lang="hu-HU" sz="1400" dirty="0" err="1"/>
              <a:t>food</a:t>
            </a:r>
            <a:r>
              <a:rPr lang="hu-HU" sz="1400" dirty="0"/>
              <a:t> and </a:t>
            </a:r>
            <a:r>
              <a:rPr lang="hu-HU" sz="1400" dirty="0" err="1"/>
              <a:t>core</a:t>
            </a:r>
            <a:r>
              <a:rPr lang="hu-HU" sz="1400" dirty="0"/>
              <a:t> </a:t>
            </a:r>
            <a:r>
              <a:rPr lang="hu-HU" sz="1400" dirty="0" err="1"/>
              <a:t>prices</a:t>
            </a:r>
            <a:endParaRPr lang="hu-H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noProof="1"/>
          </a:p>
        </p:txBody>
      </p:sp>
    </p:spTree>
    <p:extLst>
      <p:ext uri="{BB962C8B-B14F-4D97-AF65-F5344CB8AC3E}">
        <p14:creationId xmlns:p14="http://schemas.microsoft.com/office/powerpoint/2010/main" val="54605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D75AA-067E-1FB7-9DCC-8B91C645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552A02-D5EC-C96B-63BF-78EEFBBE071B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noProof="1"/>
              <a:t>Headline Inflation and Components</a:t>
            </a:r>
            <a:endParaRPr lang="en-US" sz="2600" noProof="1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E652A91-B34A-5022-1A00-019675A0575B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9851A7E-5F0E-EA09-3F70-9E5572946956}"/>
              </a:ext>
            </a:extLst>
          </p:cNvPr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83AAF4C-D4C2-F3F8-A066-31C6B206BC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E34EBE74-528A-CECA-63A5-CB5187D1B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1717467"/>
            <a:ext cx="7772400" cy="4271853"/>
          </a:xfrm>
          <a:prstGeom prst="rect">
            <a:avLst/>
          </a:prstGeom>
        </p:spPr>
      </p:pic>
      <p:sp>
        <p:nvSpPr>
          <p:cNvPr id="14" name="Tartalom helye 13">
            <a:extLst>
              <a:ext uri="{FF2B5EF4-FFF2-40B4-BE49-F238E27FC236}">
                <a16:creationId xmlns:a16="http://schemas.microsoft.com/office/drawing/2014/main" id="{86CBF19B-2D14-1256-E1CC-C557BF591AA4}"/>
              </a:ext>
            </a:extLst>
          </p:cNvPr>
          <p:cNvSpPr>
            <a:spLocks noGrp="1"/>
          </p:cNvSpPr>
          <p:nvPr>
            <p:ph idx="10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2636407-3D18-2EFB-A72E-0DC68FF695DD}"/>
              </a:ext>
            </a:extLst>
          </p:cNvPr>
          <p:cNvSpPr txBox="1"/>
          <p:nvPr/>
        </p:nvSpPr>
        <p:spPr>
          <a:xfrm>
            <a:off x="8023860" y="1691640"/>
            <a:ext cx="3715512" cy="262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/>
              <a:t>Takeaways:</a:t>
            </a:r>
          </a:p>
          <a:p>
            <a:endParaRPr lang="en-US" b="1" noProof="1"/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Immediate effect </a:t>
            </a:r>
            <a:r>
              <a:rPr lang="en-US" sz="1400" dirty="0"/>
              <a:t>(0–3 months) is driven by </a:t>
            </a:r>
            <a:r>
              <a:rPr lang="en-US" sz="1400" b="1" dirty="0"/>
              <a:t>fuels</a:t>
            </a:r>
            <a:endParaRPr lang="en-US" sz="1400" b="1" noProof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noProof="1"/>
              <a:t>Delayed effect </a:t>
            </a:r>
            <a:r>
              <a:rPr lang="en-US" sz="1400" noProof="1"/>
              <a:t>(6–12 months) shifts to </a:t>
            </a:r>
            <a:r>
              <a:rPr lang="en-US" sz="1400" b="1" noProof="1"/>
              <a:t>food</a:t>
            </a:r>
            <a:r>
              <a:rPr lang="en-US" sz="1400" noProof="1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noProof="1"/>
          </a:p>
        </p:txBody>
      </p:sp>
    </p:spTree>
    <p:extLst>
      <p:ext uri="{BB962C8B-B14F-4D97-AF65-F5344CB8AC3E}">
        <p14:creationId xmlns:p14="http://schemas.microsoft.com/office/powerpoint/2010/main" val="1001747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945E5-11A2-C3EC-DA04-6463B18D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D020D6-C9EF-FCCE-FDDF-7DBF1CA6619A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hu-HU" dirty="0" err="1"/>
              <a:t>Handling</a:t>
            </a:r>
            <a:r>
              <a:rPr lang="hu-HU" dirty="0"/>
              <a:t> </a:t>
            </a:r>
            <a:r>
              <a:rPr lang="hu-HU" dirty="0" err="1"/>
              <a:t>Interventions</a:t>
            </a:r>
            <a:endParaRPr lang="en-US" sz="2600" noProof="1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52ED0C4-5269-EEC0-60CE-26776CD7263B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DE809B2-5C28-54A8-8FF2-A04D4F44D5C2}"/>
              </a:ext>
            </a:extLst>
          </p:cNvPr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A77671A-0088-C1F0-948D-D3E4A663B0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aphicFrame>
        <p:nvGraphicFramePr>
          <p:cNvPr id="7" name="Interventions table">
            <a:extLst>
              <a:ext uri="{FF2B5EF4-FFF2-40B4-BE49-F238E27FC236}">
                <a16:creationId xmlns:a16="http://schemas.microsoft.com/office/drawing/2014/main" id="{EBF64CEC-9946-B199-4A36-AAB13A1F7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357839"/>
              </p:ext>
            </p:extLst>
          </p:nvPr>
        </p:nvGraphicFramePr>
        <p:xfrm>
          <a:off x="471679" y="1681231"/>
          <a:ext cx="6878356" cy="3495537"/>
        </p:xfrm>
        <a:graphic>
          <a:graphicData uri="http://schemas.openxmlformats.org/drawingml/2006/table">
            <a:tbl>
              <a:tblPr/>
              <a:tblGrid>
                <a:gridCol w="1080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9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9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0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54864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Tax changes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54864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Price caps and margin caps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54864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5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What</a:t>
                      </a:r>
                      <a:endParaRPr lang="en-US" sz="105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VAT and excise changes: 65–104 weeks with a change per country since 2008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10 cases: price caps in Hungary (2021–22, 2026), maximum prices in Poland (2026) and Orlen pricing (2023), margin caps in Romania (2026)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Data</a:t>
                      </a:r>
                      <a:endParaRPr lang="en-US" sz="105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EC Weekly Oil Bulletin tax sheets, checked against pump prices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Own database built from legislation and official announcements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Stage 1</a:t>
                      </a:r>
                      <a:endParaRPr lang="en-US" sz="105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pump prices</a:t>
                      </a:r>
                      <a:endParaRPr lang="en-US" sz="105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Estimated on </a:t>
                      </a: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pre-tax prices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, so tax changes do not affect pass-through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Normal-times dynamics estimated </a:t>
                      </a: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only on weeks without a measure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, behaviour under caps estimated separately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5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Stage 2</a:t>
                      </a:r>
                      <a:endParaRPr lang="en-US" sz="105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consumer prices</a:t>
                      </a:r>
                      <a:endParaRPr lang="en-US" sz="105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Controls for the price change caused by tax changes,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robustness check with HICP at constant tax rates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Share of each month under a measure 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and its interaction with oil (Hungary), level control for Poland and Romania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28016" marB="12801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Difference table">
            <a:extLst>
              <a:ext uri="{FF2B5EF4-FFF2-40B4-BE49-F238E27FC236}">
                <a16:creationId xmlns:a16="http://schemas.microsoft.com/office/drawing/2014/main" id="{CFEEFFBC-473B-0268-FE15-C499BEE6F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833930"/>
              </p:ext>
            </p:extLst>
          </p:nvPr>
        </p:nvGraphicFramePr>
        <p:xfrm>
          <a:off x="7750629" y="1508760"/>
          <a:ext cx="3675771" cy="2853137"/>
        </p:xfrm>
        <a:graphic>
          <a:graphicData uri="http://schemas.openxmlformats.org/drawingml/2006/table">
            <a:tbl>
              <a:tblPr/>
              <a:tblGrid>
                <a:gridCol w="939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3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54864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54864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Interventions</a:t>
                      </a:r>
                      <a:endParaRPr lang="en-US" sz="1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modelled</a:t>
                      </a:r>
                      <a:endParaRPr lang="en-US" sz="1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54864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Interventions</a:t>
                      </a:r>
                      <a:endParaRPr lang="en-US" sz="1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ignored</a:t>
                      </a:r>
                      <a:endParaRPr lang="en-US" sz="1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54864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0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Poland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Petrol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0.95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0.78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Diesel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1.12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1.02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0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Romania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Petrol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0.93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0.76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Diesel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1.05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0.92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80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Hungary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Petrol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1.04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0.50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80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Diesel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0.98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0.65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174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62BF8-75AC-0B50-DF8A-0B7C6067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1EF0AC-0BFD-996B-EE36-6F9338B6E96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GB" noProof="1"/>
              <a:t>Handling Interventions</a:t>
            </a:r>
            <a:endParaRPr lang="en-GB" sz="2600" noProof="1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12B3910-1502-5056-AF0B-F8924A98F87D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3714DF0-4F09-A263-F6BC-D76A292F88F3}"/>
              </a:ext>
            </a:extLst>
          </p:cNvPr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901849F-BAE5-33DD-4E13-7A4C8BEEEAB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ED006017-E0A5-2844-1A58-6668E627DBD2}"/>
              </a:ext>
            </a:extLst>
          </p:cNvPr>
          <p:cNvSpPr txBox="1"/>
          <p:nvPr/>
        </p:nvSpPr>
        <p:spPr>
          <a:xfrm>
            <a:off x="7924800" y="1695238"/>
            <a:ext cx="3715512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/>
              <a:t>Takeaways:</a:t>
            </a:r>
          </a:p>
          <a:p>
            <a:endParaRPr lang="en-US" b="1" noProof="1"/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1400" b="1" dirty="0" err="1"/>
              <a:t>Intervensions</a:t>
            </a:r>
            <a:r>
              <a:rPr lang="en-US" sz="1400" b="1" dirty="0"/>
              <a:t> have reverse effect</a:t>
            </a:r>
            <a:r>
              <a:rPr lang="en-US" sz="1400" dirty="0"/>
              <a:t> one the measure ended: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Hungary +2.4 pp on average in 2023.</a:t>
            </a:r>
            <a:endParaRPr lang="en-US" sz="1400" b="1" noProof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noProof="1"/>
              <a:t>Change from long measures </a:t>
            </a:r>
            <a:r>
              <a:rPr lang="en-US" sz="1400" noProof="1"/>
              <a:t>to short, targeted ones: 11-13 months in 2022 vs about 3 in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noProof="1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C514934E-F693-0BE2-1BED-D959C0328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6" y="1273890"/>
            <a:ext cx="7919104" cy="481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4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330FA-0598-60D4-A103-1381AFFD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57EF80-DDBA-81E1-9964-461476A6E049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GB" noProof="1"/>
              <a:t>Country Comparison</a:t>
            </a:r>
            <a:endParaRPr lang="en-GB" sz="2600" noProof="1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F6C6834-D256-6673-5947-57A18707987C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DCCE105B-00C4-BFC1-7949-1453D90D12CA}"/>
              </a:ext>
            </a:extLst>
          </p:cNvPr>
          <p:cNvSpPr>
            <a:spLocks noGrp="1"/>
          </p:cNvSpPr>
          <p:nvPr>
            <p:ph type="body" idx="103" hasCustomPrompt="1"/>
          </p:nvPr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A49EAAA-2B25-EE76-777C-1EF86C401E0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graphicFrame>
        <p:nvGraphicFramePr>
          <p:cNvPr id="4" name="Country comparison table">
            <a:extLst>
              <a:ext uri="{FF2B5EF4-FFF2-40B4-BE49-F238E27FC236}">
                <a16:creationId xmlns:a16="http://schemas.microsoft.com/office/drawing/2014/main" id="{E06C6D4A-F9DB-DB0D-6250-D6063BA6F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088408"/>
              </p:ext>
            </p:extLst>
          </p:nvPr>
        </p:nvGraphicFramePr>
        <p:xfrm>
          <a:off x="548640" y="1179576"/>
          <a:ext cx="11091671" cy="4224528"/>
        </p:xfrm>
        <a:graphic>
          <a:graphicData uri="http://schemas.openxmlformats.org/drawingml/2006/table">
            <a:tbl>
              <a:tblPr/>
              <a:tblGrid>
                <a:gridCol w="2841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0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0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Poland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Romania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B7D3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Hungary</a:t>
                      </a:r>
                      <a:endParaRPr lang="en-US" sz="14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0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Speed at the pump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weeks to 90% pass-through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 weeks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10 weeks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2.5 weeks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0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Short-term effect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headline, after 3 months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0.31%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0.27%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0.45%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Delayed effect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headline, after 12 months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0.30%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0.45%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mainly via food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0.38%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12-month effect incl. 2021–23*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headline, after 12 months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0.88%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mainly heating and coal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0.68%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0.53%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mainly gas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Policy approach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fuel price measures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Tax cuts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2022 and 2026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Margin cap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tax increases 2024-26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Hard price caps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29 months since 2021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Main structural driver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Heating and coal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4.6% of the basket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High excise, food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excise ~1/3 of price, food 1/3 of basket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Highest fuel weight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5.8% of basket, 89% petrol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3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Profile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Moderate in normal times, most exposed in energy crises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Slow but persistent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7D3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Fast and front-loaded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5FDE0345-47A1-EB59-C52C-74267DAEC1AE}"/>
              </a:ext>
            </a:extLst>
          </p:cNvPr>
          <p:cNvSpPr txBox="1"/>
          <p:nvPr/>
        </p:nvSpPr>
        <p:spPr>
          <a:xfrm>
            <a:off x="562355" y="54635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* Same estimate on data to August 2026 instead of October 2021. It is larger because gas, coal and heating prices rose together with oil in 2021–23; in Hungary the increase disappears when the gas price is held fixed.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Normal times: pump prices 2008–19, HICP 2008–21. Bold: most pronounced of the three countries.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09714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dirty="0"/>
              <a:t>Thank you</a:t>
            </a: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37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noProof="1"/>
              <a:t>Questions and discussion</a:t>
            </a:r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/>
              <a:t>Dávid Szaniszló | </a:t>
            </a:r>
            <a:r>
              <a:rPr lang="en-US" dirty="0">
                <a:hlinkClick r:id="rId3"/>
              </a:rPr>
              <a:t>szaniszlod2003@gmail.com</a:t>
            </a:r>
            <a:r>
              <a:rPr lang="en-US" sz="1200" dirty="0">
                <a:hlinkClick r:id="rId3"/>
              </a:rPr>
              <a:t> </a:t>
            </a:r>
            <a:r>
              <a:rPr lang="en-US" sz="1200" dirty="0"/>
              <a:t>| </a:t>
            </a:r>
            <a:r>
              <a:rPr lang="en-US" sz="1200" dirty="0">
                <a:hlinkClick r:id="rId4"/>
              </a:rPr>
              <a:t>LinkedIn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E Macro FI">
  <a:themeElements>
    <a:clrScheme name="CEE Macro FI">
      <a:dk1>
        <a:srgbClr val="333333"/>
      </a:dk1>
      <a:lt1>
        <a:srgbClr val="FFFFFF"/>
      </a:lt1>
      <a:dk2>
        <a:srgbClr val="0F2A44"/>
      </a:dk2>
      <a:lt2>
        <a:srgbClr val="F2F2F2"/>
      </a:lt2>
      <a:accent1>
        <a:srgbClr val="0F2A44"/>
      </a:accent1>
      <a:accent2>
        <a:srgbClr val="2E6F8E"/>
      </a:accent2>
      <a:accent3>
        <a:srgbClr val="9FB7C9"/>
      </a:accent3>
      <a:accent4>
        <a:srgbClr val="8C8C8C"/>
      </a:accent4>
      <a:accent5>
        <a:srgbClr val="B08D57"/>
      </a:accent5>
      <a:accent6>
        <a:srgbClr val="5C7A5A"/>
      </a:accent6>
      <a:hlink>
        <a:srgbClr val="2E6F8E"/>
      </a:hlink>
      <a:folHlink>
        <a:srgbClr val="8C8C8C"/>
      </a:folHlink>
    </a:clrScheme>
    <a:fontScheme name="CEE Macro F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1151</Words>
  <Application>Microsoft Macintosh PowerPoint</Application>
  <PresentationFormat>Szélesvásznú</PresentationFormat>
  <Paragraphs>205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CEE Macro FI</vt:lpstr>
      <vt:lpstr>Oil price pass-through to inflation in Poland, Romania and Hungary</vt:lpstr>
      <vt:lpstr>Agenda</vt:lpstr>
      <vt:lpstr>Key Findings </vt:lpstr>
      <vt:lpstr>Data and methodology</vt:lpstr>
      <vt:lpstr>Pump price structure</vt:lpstr>
      <vt:lpstr>Crude Oil to Pump Prices</vt:lpstr>
      <vt:lpstr>Crude Oil to Pump Prices</vt:lpstr>
      <vt:lpstr>Pump Prices to Headline Inflation</vt:lpstr>
      <vt:lpstr>Headline Inflation and Components</vt:lpstr>
      <vt:lpstr>Handling Interventions</vt:lpstr>
      <vt:lpstr>Handling Interventions</vt:lpstr>
      <vt:lpstr>Country Comparison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CEE Macro &amp; Fixed Income Research – Template</dc:title>
  <dc:subject>PptxGenJS Presentation</dc:subject>
  <dc:creator>PptxGenJS</dc:creator>
  <cp:lastModifiedBy>Szaniszlo, David</cp:lastModifiedBy>
  <cp:revision>6</cp:revision>
  <dcterms:created xsi:type="dcterms:W3CDTF">2026-10-03T15:59:13Z</dcterms:created>
  <dcterms:modified xsi:type="dcterms:W3CDTF">2026-10-04T16:55:54Z</dcterms:modified>
</cp:coreProperties>
</file>